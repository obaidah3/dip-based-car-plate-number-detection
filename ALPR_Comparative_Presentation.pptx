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RESEARCH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License Plate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Systems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Dive into Segmentation-Based vs. Classical DIP Approaches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023360"/>
            <a:ext cx="384048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023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A: Segmentation-Based ALPR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4023360"/>
            <a:ext cx="384048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4023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B: Classical DIP-Based ALPR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Image Processing  |  Computer Vision  |  OCR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200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7432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627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836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datasets &amp; problem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23500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3134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5694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enhancement strategies compared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0358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35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9992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Methods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552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&amp; segmentation techniques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5544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6642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16276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18836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vs. CNN-based feature extraction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2402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37960" y="23500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3134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Recognition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40880" y="25694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vs. template matching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926080"/>
            <a:ext cx="5303520" cy="59436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37960" y="3035808"/>
            <a:ext cx="384048" cy="3840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0358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299923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325526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analysis &amp; conclusions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394960" cy="4114800"/>
          </a:xfrm>
          <a:prstGeom prst="rect">
            <a:avLst/>
          </a:prstGeom>
          <a:solidFill>
            <a:srgbClr val="DEEEFF"/>
          </a:solidFill>
          <a:ln w="12700">
            <a:solidFill>
              <a:srgbClr val="DEEE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39496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 — Segmentation-Based ALPR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ALPR pipeline with adaptive image analysis, CNN feature extraction, and OCR confidence scoring.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624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6243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car license plate dataset (.tsv) with filenames, plate text, and country metadata.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337413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preprocessing → Car region detection → Plate candidate scoring → OCR → Feature fusion &amp; PCA.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123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412394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VGG19, ResNet50 &amp; EfficientNetB0 for CNN features + LBP, GLCM, SIFT, ORB hand-crafted features.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5394960" cy="41148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280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 — Classical DIP-Based ALPR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1874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preprocessing + Phase II segmentation &amp; recognition using classical DIP only (no deep learning).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2624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6243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car plate detection dataset (433 images) with XML bounding box annotations per image.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337413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37413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→ Noise reduction → Contrast enhancement → Edge detection → FFT → Character recognition.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412394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412394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algorithms implemented manually (no built-in functions). Uses template matching for OCR.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5577840"/>
            <a:ext cx="113385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Ground: Both projects tackle license plate recognition from car images and share a preprocessing-first philosophy.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070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Adaptive, Intelligent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7556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Denoising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kernel on BGR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7744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7556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1635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Grayscale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635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0.229R+0.587G+0.114B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70832" y="17556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083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Diagnostics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659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blur, noise flags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26700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Corrections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/ stretch / highlight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7744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450592" y="26700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1635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1635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histogram eq.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29768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70832" y="2670048"/>
            <a:ext cx="292608" cy="29260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7083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Correction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angle estimate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7200" y="3584448"/>
            <a:ext cx="5760720" cy="411480"/>
          </a:xfrm>
          <a:prstGeom prst="rect">
            <a:avLst/>
          </a:prstGeom>
          <a:solidFill>
            <a:srgbClr val="0D2A3A"/>
          </a:solidFill>
          <a:ln w="12700">
            <a:solidFill>
              <a:srgbClr val="0D2A3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8640" y="3584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Adaptive: Pipeline dynamically branches based on image diagnostics (dark/bright/blurry/noisy flags)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1207008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Classical, Step-by-Step Pipeline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0936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82512" y="17556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4827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Conversion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4827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0.299R+0.587G+0.114B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2960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02752" y="17556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6851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6851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3×3 implementation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149840" y="16642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0222992" y="17556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222992" y="1755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88752" y="17373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88752" y="20116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CDF-based mapping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382512" y="26700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8251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74827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 Detection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4827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Gx/Gy kernels, G=√(Gx²+Gy²)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2960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302752" y="26700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0275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66851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Low-Pass Filter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66851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noise suppression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0149840" y="2578608"/>
            <a:ext cx="1783080" cy="7772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222992" y="2670048"/>
            <a:ext cx="292608" cy="29260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222992" y="2670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588752" y="2651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High-Boost FFT Filter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0588752" y="292608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sharpening via high-freq boost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309360" y="3584448"/>
            <a:ext cx="5760720" cy="411480"/>
          </a:xfrm>
          <a:prstGeom prst="rect">
            <a:avLst/>
          </a:prstGeom>
          <a:solidFill>
            <a:srgbClr val="0D2A1A"/>
          </a:solidFill>
          <a:ln w="12700">
            <a:solidFill>
              <a:srgbClr val="0D2A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6400800" y="358444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Requirement: All algorithms manually coded — no built-in OpenCV enhancement functions used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5760" y="4160520"/>
            <a:ext cx="11338560" cy="502920"/>
          </a:xfrm>
          <a:prstGeom prst="rect">
            <a:avLst/>
          </a:prstGeom>
          <a:solidFill>
            <a:srgbClr val="141E28"/>
          </a:solidFill>
          <a:ln w="12700">
            <a:solidFill>
              <a:srgbClr val="141E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share: </a:t>
            </a:r>
            <a:pPr indent="0" marL="0">
              <a:buNone/>
            </a:pPr>
            <a:r>
              <a:rPr lang="en-US" sz="11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filtering for noise reduction  |  CLAHE/histogram equalization for contrast  |  Grayscale as base representation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035040" y="1188720"/>
            <a:ext cx="0" cy="34290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 Methods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Multi-Stage Heuristic Detection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5394960" cy="71323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73152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465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Orientation Correction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horizontal angle from edge analysis and rotates the image for alignment before any detection.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32888"/>
            <a:ext cx="5394960" cy="71323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32888"/>
            <a:ext cx="73152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87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Car Region Estimation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dominant foreground object using horizontal/vertical line analysis, outputs car bounding box.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374136"/>
            <a:ext cx="5394960" cy="71323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374136"/>
            <a:ext cx="73152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29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Color-First Plate Boxes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72160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candidate regions based on color heuristics (white/yellow plate cues) within the car region.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4215384"/>
            <a:ext cx="5394960" cy="713232"/>
          </a:xfrm>
          <a:prstGeom prst="rect">
            <a:avLst/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215384"/>
            <a:ext cx="73152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70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Candidate Scoring &amp; Ranking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56285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candidates on: aspect ratio, background cues, character presence, edge density, texture, OCR confidence.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Annotation-Guided Detection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1691640"/>
            <a:ext cx="5394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691640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74650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XML Annotation Parsing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37960" y="2039112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Pascal VOC XML files to extract exact bounding box coordinates (xmin, ymin, xmax, ymax) per image.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532888"/>
            <a:ext cx="5394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2532888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5877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 Ground-Truth Plate Crop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37960" y="2880360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crops the plate region using annotation coords — no contour-based localization needed.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3374136"/>
            <a:ext cx="5394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3374136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429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Plate Preprocessing (v2)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537960" y="372160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→ Bilateral filter → Light CLAHE → Otsu threshold → Morphological cleanup.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215384"/>
            <a:ext cx="5394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215384"/>
            <a:ext cx="73152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2702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Contour-Based Char Segmentation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37960" y="4562856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contours, filters by height (&gt;35% plate height), aspect ratio (1.0–6.0), and sorts left-to-right.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35040" y="1188720"/>
            <a:ext cx="0" cy="41148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365760" y="5532120"/>
            <a:ext cx="1133856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uses heuristic auto-detection (no ground truth); Project B leverages XML annotations for guaranteed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Rich Multi-Source Feature Fusion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474720" cy="2148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CNN Features (Deep Learning)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VGG19 (pretrained) — abstract visual patterns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ResNet50 (pretrained) — skip-connection features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EfficientNetB0 (pretrained) — efficient deep features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flattened and concatenated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0" y="1691640"/>
            <a:ext cx="3474720" cy="2148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Engineered (Hand-Crafted)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51960" y="2121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LBP — Local Binary Patterns (texture)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51960" y="2468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GLCM — Gray-Level Co-occurrence Matrix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51960" y="28163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SIFT — Scale-Invariant Feature Transform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51960" y="3163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ORB — Oriented FAST + Rotated BRIEF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0" y="1691640"/>
            <a:ext cx="3749040" cy="214884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0100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Fusion &amp; Reduction (PCA)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001000" y="2121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features concatenated into one unified vector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010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Scaling (mean=0, variance=1)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01000" y="2816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PCA applied: retains 95% variance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01000" y="3163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to 9 principal components (from 100 images)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86200" y="2468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35240" y="2468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11338560" cy="475488"/>
          </a:xfrm>
          <a:prstGeom prst="rect">
            <a:avLst/>
          </a:prstGeom>
          <a:solidFill>
            <a:srgbClr val="0A1828"/>
          </a:solidFill>
          <a:ln w="12700">
            <a:solidFill>
              <a:srgbClr val="0A18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977640"/>
            <a:ext cx="11064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OCR Confidence Score (0–1) from Tesseract is used BOTH as a feature and as a plate candidate ranking signal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61772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Pixel-Based Feature Representation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3749040" cy="96012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5029200"/>
            <a:ext cx="374904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120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Pixel 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54223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40×60 character image flattened to a 2,400-dimension binary vector (0 or 1 per pixel).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5029200"/>
            <a:ext cx="3749040" cy="96012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43400" y="5029200"/>
            <a:ext cx="37490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5120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Representation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54223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normalized to 0–1 range. Consistent target size ensures same feature length for all characters.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21040" y="5029200"/>
            <a:ext cx="3749040" cy="960120"/>
          </a:xfrm>
          <a:prstGeom prst="rect">
            <a:avLst/>
          </a:prstGeom>
          <a:solidFill>
            <a:srgbClr val="1A2A1A"/>
          </a:solidFill>
          <a:ln w="12700">
            <a:solidFill>
              <a:srgbClr val="1A2A1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321040" y="5029200"/>
            <a:ext cx="374904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5120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Dimensionality Reduction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58200" y="54223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Project A, no PCA. Simple and direct feature representation suitable for template matching.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Character Recognition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5486400" cy="452628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5486400" cy="4572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Tesseract OCR Engine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Preprocessing Chain: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Resize plate crop to standard dimensions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963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Convert to grayscale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8437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Bilateral denoising (edge-preserving)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CLAHE for local contrast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387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Unsharp masking (sharpening filter)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Adaptive thresholding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233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Morphological cleanup (MORPH_OPEN)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645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6451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text + confidence score (0–1) used both for display and candidate ranking feedback.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5486400" cy="4526280"/>
          </a:xfrm>
          <a:prstGeom prst="rect">
            <a:avLst/>
          </a:prstGeom>
          <a:solidFill>
            <a:srgbClr val="F0FBF0"/>
          </a:solidFill>
          <a:ln w="12700">
            <a:solidFill>
              <a:srgbClr val="F0FB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234440"/>
            <a:ext cx="54864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234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Template Matching (Manual MSE)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1801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Template Matching Works: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21488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Generate 36 templates: '0-9' + 'A-Z' using cv2.putText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49631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Each template: 40×60 binary image (white char on black)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2843784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Segmented char resized to same 40×60 dimensions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92240" y="31912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Compute MSE vs. every template: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35387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MSE = (1/N) × Σ(Image − Template)²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388620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Template with lowest MSE → predicted character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42336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Concatenate predictions → final plate text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6451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464515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character per segment + full plate string. No external OCR library used.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035040" y="1234440"/>
            <a:ext cx="0" cy="452628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65760" y="5897880"/>
            <a:ext cx="11338560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Philosophies: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→ engine-assisted (Tesseract AI), Project B → pure geometric similarity (MSE distance)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657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630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Finding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70992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Preprocessing Boosts Robustness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images as dark/blurry/noisy and branching the pipeline accordingly significantly improves outcomes for challenging images compared to fixed pipelines.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51960" y="132588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325880"/>
            <a:ext cx="36576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1688" y="14630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Finding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61688" y="170992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95% Variance to 9 Components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61688" y="2194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fusing thousands of CNN + handcrafted features, PCA distills them to just 9 principal components from 100 images while retaining 95% of information — an efficient compact representation.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38160" y="132588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325880"/>
            <a:ext cx="36576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4630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Finding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47888" y="170992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Confidence Anomaly Discovered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47888" y="219456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'Very hard' images showed higher OCR confidence (0.361) than 'easy' (0.203) — attributed to tiny sample size (n=1). Highlights need for balanced evaluation datasets.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37560"/>
            <a:ext cx="36576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4747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Finding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372160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Techniques Are Highly Effective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filter + manual histogram equalization + Sobel edge detection produced consistently clear plate regions without any deep learning — proving classical DIP methods remain powerful.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333756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51960" y="3337560"/>
            <a:ext cx="365760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1688" y="34747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Finding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61688" y="372160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Matching Provides Interpretable OCR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61688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MSE-based character matching is fully transparent, explainable, and requires no training data. It performs well on clean plates but may struggle with unusual fonts or degraded images.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38160" y="3337560"/>
            <a:ext cx="3657600" cy="18745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38160" y="3337560"/>
            <a:ext cx="3657600" cy="7315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34747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Finding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47888" y="372160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Quality is the Key Bottleneck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47888" y="4206240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systems, the quality of preprocessing directly determines OCR/detection success. Both projects invest heavily in multi-stage image enhancement before any higher-level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112928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66160" y="109728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— Segmentation-Based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75120" y="10972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Classical DIP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572768"/>
            <a:ext cx="11292840" cy="420624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0934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Type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60934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+ Deep Learning hybrid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0" y="16093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classical DIP, manually coded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011680"/>
            <a:ext cx="11292840" cy="420624"/>
          </a:xfrm>
          <a:prstGeom prst="rect">
            <a:avLst/>
          </a:prstGeom>
          <a:solidFill>
            <a:srgbClr val="F0FBF0"/>
          </a:solidFill>
          <a:ln w="12700">
            <a:solidFill>
              <a:srgbClr val="F0FB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0482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204825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 TSV metadata + images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75120" y="204825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433 annotated images with XML bboxes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2450592"/>
            <a:ext cx="11292840" cy="420624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4871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Localization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48716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via scoring heuristics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7512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XML annotations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889504"/>
            <a:ext cx="11292840" cy="420624"/>
          </a:xfrm>
          <a:prstGeom prst="rect">
            <a:avLst/>
          </a:prstGeom>
          <a:solidFill>
            <a:srgbClr val="F0FBF0"/>
          </a:solidFill>
          <a:ln w="12700">
            <a:solidFill>
              <a:srgbClr val="F0FB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9260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9260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(image diagnostics driven)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9260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sequential pipeline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328416"/>
            <a:ext cx="11292840" cy="420624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3649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66160" y="336499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(VGG19, ResNet50, EfficientNet) + LBP, GLCM, SIFT, ORB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75120" y="33649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pixel flattening (40×60 = 2400-dim)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767328"/>
            <a:ext cx="11292840" cy="420624"/>
          </a:xfrm>
          <a:prstGeom prst="rect">
            <a:avLst/>
          </a:prstGeom>
          <a:solidFill>
            <a:srgbClr val="F0FBF0"/>
          </a:solidFill>
          <a:ln w="12700">
            <a:solidFill>
              <a:srgbClr val="F0FB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8039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3803904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→ 9 components (95% variance)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75120" y="38039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reduction; 2400-D per character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4206240"/>
            <a:ext cx="11292840" cy="420624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42428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Method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4242816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engine with confidence scoring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75120" y="424281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MSE template matching (36 templates)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11480" y="4645152"/>
            <a:ext cx="11292840" cy="420624"/>
          </a:xfrm>
          <a:prstGeom prst="rect">
            <a:avLst/>
          </a:prstGeom>
          <a:solidFill>
            <a:srgbClr val="F0FBF0"/>
          </a:solidFill>
          <a:ln w="12700">
            <a:solidFill>
              <a:srgbClr val="F0FBF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02920" y="46817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66160" y="468172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multi-module, CNN dependencies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675120" y="46817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interpretable, no ML libraries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" y="5084064"/>
            <a:ext cx="11292840" cy="420624"/>
          </a:xfrm>
          <a:prstGeom prst="rect">
            <a:avLst/>
          </a:prstGeom>
          <a:solidFill>
            <a:srgbClr val="E8FFE8"/>
          </a:solidFill>
          <a:ln w="12700">
            <a:solidFill>
              <a:srgbClr val="E8FFE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02920" y="5120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566160" y="512064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Robust, adaptive, feature-rich, scalable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675120" y="51206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explainable, lightweight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1480" y="5522976"/>
            <a:ext cx="11292840" cy="420624"/>
          </a:xfrm>
          <a:prstGeom prst="rect">
            <a:avLst/>
          </a:prstGeom>
          <a:solidFill>
            <a:srgbClr val="FFE8E8"/>
          </a:solidFill>
          <a:ln w="12700">
            <a:solidFill>
              <a:srgbClr val="FFE8E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02920" y="55595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66160" y="5559552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4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computationally expensive, heuristic-dependent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75120" y="55595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Font-sensitive, no learning, annotation-dependent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29000" y="1097280"/>
            <a:ext cx="0" cy="5074920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37960" y="1097280"/>
            <a:ext cx="0" cy="5074920"/>
          </a:xfrm>
          <a:prstGeom prst="line">
            <a:avLst/>
          </a:prstGeom>
          <a:noFill/>
          <a:ln w="12700">
            <a:solidFill>
              <a:srgbClr val="BBCCD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FFD166">
              <a:alpha val="10000"/>
            </a:srgbClr>
          </a:solidFill>
          <a:ln w="12700">
            <a:solidFill>
              <a:srgbClr val="FFD166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92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Approaches,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36576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5577840" cy="15727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Complexity vs. Simplicity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proves that combining deep learning features with adaptive preprocessing yields a rich, scalable representation. Project B shows that classical algorithms, when well-implemented, remain powerful and interpretable.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2331720"/>
            <a:ext cx="5577840" cy="15727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2468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Use Case Alignment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suits production systems needing generalization across diverse datasets. Project B excels in constrained environments where explainability and lightweight execution are priorities.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577840" cy="15727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Complementary Insights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validate that strong preprocessing is the foundation of any LPR system. The adaptive pipeline of Project A and the annotation-leveraged accuracy of Project B offer distinct but equally valid design philosophies.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4069080"/>
            <a:ext cx="5577840" cy="15727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521208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approach — combining classical feature robustness with deep learning generalization — alongside a larger, balanced dataset, and end-to-end model training, represents the next frontier for both projects.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11384280" cy="502920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56875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attending!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License Plate Recognition: A Comparative Study</dc:title>
  <dc:subject>PptxGenJS Presentation</dc:subject>
  <dc:creator>PptxGenJS</dc:creator>
  <cp:lastModifiedBy>PptxGenJS</cp:lastModifiedBy>
  <cp:revision>1</cp:revision>
  <dcterms:created xsi:type="dcterms:W3CDTF">2026-05-15T22:33:12Z</dcterms:created>
  <dcterms:modified xsi:type="dcterms:W3CDTF">2026-05-15T22:33:12Z</dcterms:modified>
</cp:coreProperties>
</file>